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88888"/>
                </a:solidFill>
                <a:latin typeface="Calibri"/>
              </a:defRPr>
            </a:pPr>
            <a:r>
              <a:t>Grupo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La Memoria de Pez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8AAFF"/>
                </a:solidFill>
                <a:latin typeface="Calibri"/>
              </a:defRPr>
            </a:pPr>
            <a:r>
              <a:t>Deep Learning Audit  -  El Rescate de HealthTech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389120"/>
            <a:ext cx="6675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Calibri"/>
              </a:defRPr>
            </a:pPr>
            <a:r>
              <a:t>Universidad Privada del Norte - Escuela de Posgrado</a:t>
            </a:r>
            <a:br/>
            <a:r>
              <a:t>Modelos de Deep Learning - Sesion N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4444"/>
                </a:solidFill>
                <a:latin typeface="Calibri"/>
              </a:defRPr>
            </a:pPr>
            <a:r>
              <a:t>El Sabotaje: Sin Regularizacion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2A0505"/>
          </a:solidFill>
          <a:ln w="19050">
            <a:solidFill>
              <a:srgbClr val="FF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666"/>
                </a:solidFill>
                <a:latin typeface="Calibri"/>
              </a:defRPr>
            </a:pPr>
            <a:r>
              <a:t>Sintoma Principal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El modelo alcanza ~100% accuracy en entrenamiento pero falla en datos nuevos. Ha MEMORIZADO cada muestra en vez de aprender patrones reales.</a:t>
            </a:r>
            <a:br/>
            <a:br/>
            <a:r>
              <a:t>"La perdida de train baja a 0, pero la de test sube sin parar."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2A0505"/>
          </a:solidFill>
          <a:ln w="19050">
            <a:solidFill>
              <a:srgbClr val="FF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666"/>
                </a:solidFill>
                <a:latin typeface="Calibri"/>
              </a:defRPr>
            </a:pPr>
            <a:r>
              <a:t>Los Numeros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10312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~19,000 parametros en el modelo</a:t>
            </a:r>
            <a:br/>
            <a:r>
              <a:t>60 muestras de entrenamiento (de 100 totales)</a:t>
            </a:r>
            <a:br/>
            <a:r>
              <a:t>Ratio ~300:1</a:t>
            </a:r>
            <a:br/>
            <a:br/>
            <a:r>
              <a:t>El modelo puede memorizar TODO sin esfuerzo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2A0505"/>
          </a:solidFill>
          <a:ln w="19050">
            <a:solidFill>
              <a:srgbClr val="FF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148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666"/>
                </a:solidFill>
                <a:latin typeface="Calibri"/>
              </a:defRPr>
            </a:pPr>
            <a:r>
              <a:t>Lo que falta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66344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- No hay Weight Decay (penalizacion L2)</a:t>
            </a:r>
            <a:br/>
            <a:r>
              <a:t>- No hay Dropout</a:t>
            </a:r>
            <a:br/>
            <a:r>
              <a:t>- No hay Early Stopping</a:t>
            </a:r>
            <a:br/>
            <a:r>
              <a:t>- Red sobredimensionada para tan pocos datos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2A0505"/>
          </a:solidFill>
          <a:ln w="19050">
            <a:solidFill>
              <a:srgbClr val="FF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666"/>
                </a:solidFill>
                <a:latin typeface="Calibri"/>
              </a:defRPr>
            </a:pPr>
            <a:r>
              <a:t>Impacto en HealthTech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66344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En produccion, el modelo no detectaria patologias nuevas correctamente. Solo "recuerda" los casos que ya vio.</a:t>
            </a:r>
            <a:br/>
            <a:br/>
            <a:r>
              <a:t>Un paciente nuevo = diagnostico poco confiable.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AA00"/>
                </a:solidFill>
                <a:latin typeface="Calibri"/>
              </a:defRPr>
            </a:pPr>
            <a:r>
              <a:t>Diagnostico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868680"/>
          </a:xfrm>
          <a:prstGeom prst="roundRect">
            <a:avLst/>
          </a:prstGeom>
          <a:solidFill>
            <a:srgbClr val="2A1A00"/>
          </a:solidFill>
          <a:ln w="1905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0876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rPr b="1" sz="1500">
                <a:solidFill>
                  <a:srgbClr val="FFCC44"/>
                </a:solidFill>
              </a:rPr>
              <a:t>Sintoma: </a:t>
            </a:r>
            <a:r>
              <a:rPr sz="1400">
                <a:solidFill>
                  <a:srgbClr val="CCCCCC"/>
                </a:solidFill>
              </a:rPr>
              <a:t>Train accuracy converge a ~100% mientras test accuracy se estanca o cae. La perdida de test diverge.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698480" cy="868680"/>
          </a:xfrm>
          <a:prstGeom prst="roundRect">
            <a:avLst/>
          </a:prstGeom>
          <a:solidFill>
            <a:srgbClr val="2A1A00"/>
          </a:solidFill>
          <a:ln w="1905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rPr b="1" sz="1500">
                <a:solidFill>
                  <a:srgbClr val="FFCC44"/>
                </a:solidFill>
              </a:rPr>
              <a:t>Causa raiz: </a:t>
            </a:r>
            <a:r>
              <a:rPr sz="1400">
                <a:solidFill>
                  <a:srgbClr val="CCCCCC"/>
                </a:solidFill>
              </a:rPr>
              <a:t>Sin regularizacion, los pesos crecen sin control. Con muchos parametros y pocos datos, la red memoriza cada muestra incluyendo el ruido.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83280"/>
            <a:ext cx="10698480" cy="868680"/>
          </a:xfrm>
          <a:prstGeom prst="roundRect">
            <a:avLst/>
          </a:prstGeom>
          <a:solidFill>
            <a:srgbClr val="2A1A00"/>
          </a:solidFill>
          <a:ln w="1905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52044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rPr b="1" sz="1500">
                <a:solidFill>
                  <a:srgbClr val="FFCC44"/>
                </a:solidFill>
              </a:rPr>
              <a:t>Evidencia: </a:t>
            </a:r>
            <a:r>
              <a:rPr sz="1400">
                <a:solidFill>
                  <a:srgbClr val="CCCCCC"/>
                </a:solidFill>
              </a:rPr>
              <a:t>Los pesos del modelo muestran valores grandes y dispersos (alta varianza), senal de que el modelo codifica ruido en vez de patrones.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10698480" cy="868680"/>
          </a:xfrm>
          <a:prstGeom prst="roundRect">
            <a:avLst/>
          </a:prstGeom>
          <a:solidFill>
            <a:srgbClr val="2A1A00"/>
          </a:solidFill>
          <a:ln w="1905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rPr b="1" sz="1500">
                <a:solidFill>
                  <a:srgbClr val="FFCC44"/>
                </a:solidFill>
              </a:rPr>
              <a:t>Analogia: </a:t>
            </a:r>
            <a:r>
              <a:rPr sz="1400">
                <a:solidFill>
                  <a:srgbClr val="CCCCCC"/>
                </a:solidFill>
              </a:rPr>
              <a:t>Es como un estudiante que memoriza las respuestas del examen de practica en vez de aprender la materia - perfecto en lo visto, pesimo en preguntas nuevas.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10698480" cy="868680"/>
          </a:xfrm>
          <a:prstGeom prst="roundRect">
            <a:avLst/>
          </a:prstGeom>
          <a:solidFill>
            <a:srgbClr val="2A1A00"/>
          </a:solidFill>
          <a:ln w="19050">
            <a:solidFill>
              <a:srgbClr val="FF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53212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rPr b="1" sz="1500">
                <a:solidFill>
                  <a:srgbClr val="FFCC44"/>
                </a:solidFill>
              </a:rPr>
              <a:t>Indicador: </a:t>
            </a:r>
            <a:r>
              <a:rPr sz="1400">
                <a:solidFill>
                  <a:srgbClr val="CCCCCC"/>
                </a:solidFill>
              </a:rPr>
              <a:t>La brecha (gap) entre train accuracy y test accuracy. Con overfitting violento, esta brecha supera el 20-30%.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44FF88"/>
                </a:solidFill>
                <a:latin typeface="Calibri"/>
              </a:defRPr>
            </a:pPr>
            <a:r>
              <a:t>El Interruptor: Regularizacion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474720" cy="3657600"/>
          </a:xfrm>
          <a:prstGeom prst="roundRect">
            <a:avLst/>
          </a:prstGeom>
          <a:solidFill>
            <a:srgbClr val="052A10"/>
          </a:solidFill>
          <a:ln w="19050">
            <a:solidFill>
              <a:srgbClr val="66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FFAA"/>
                </a:solidFill>
                <a:latin typeface="Calibri"/>
              </a:defRPr>
            </a:pPr>
            <a:r>
              <a:t>Weight Decay (L2)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Penaliza pesos grandes anadiendo</a:t>
            </a:r>
            <a:br/>
            <a:r>
              <a:t>lambda*||w||^2 a la perdida.</a:t>
            </a:r>
            <a:br/>
            <a:r>
              <a:t>Encoge los pesos hacia cero</a:t>
            </a:r>
            <a:br/>
            <a:r>
              <a:t>en cada actualizacion.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4114800"/>
            <a:ext cx="2560320" cy="457200"/>
          </a:xfrm>
          <a:prstGeom prst="roundRect">
            <a:avLst/>
          </a:prstGeom>
          <a:solidFill>
            <a:srgbClr val="001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160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FFAA"/>
                </a:solidFill>
                <a:latin typeface="Consolas"/>
              </a:defRPr>
            </a:pPr>
            <a:r>
              <a:t>weight_decay=0.01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371600"/>
            <a:ext cx="3474720" cy="3657600"/>
          </a:xfrm>
          <a:prstGeom prst="roundRect">
            <a:avLst/>
          </a:prstGeom>
          <a:solidFill>
            <a:srgbClr val="052A10"/>
          </a:solidFill>
          <a:ln w="19050">
            <a:solidFill>
              <a:srgbClr val="66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FFAA"/>
                </a:solidFill>
                <a:latin typeface="Calibri"/>
              </a:defRPr>
            </a:pPr>
            <a:r>
              <a:t>Dropout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945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Apaga neuronas al azar durante</a:t>
            </a:r>
            <a:br/>
            <a:r>
              <a:t>el entrenamiento (p=0.3).</a:t>
            </a:r>
            <a:br/>
            <a:r>
              <a:t>Impide que la red dependa</a:t>
            </a:r>
            <a:br/>
            <a:r>
              <a:t>de neuronas individuales.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4114800"/>
            <a:ext cx="2560320" cy="457200"/>
          </a:xfrm>
          <a:prstGeom prst="roundRect">
            <a:avLst/>
          </a:prstGeom>
          <a:solidFill>
            <a:srgbClr val="001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199" y="4160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FFAA"/>
                </a:solidFill>
                <a:latin typeface="Consolas"/>
              </a:defRPr>
            </a:pPr>
            <a:r>
              <a:t>nn.Dropout(0.3)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371600"/>
            <a:ext cx="3474720" cy="3657600"/>
          </a:xfrm>
          <a:prstGeom prst="roundRect">
            <a:avLst/>
          </a:prstGeom>
          <a:solidFill>
            <a:srgbClr val="052A10"/>
          </a:solidFill>
          <a:ln w="19050">
            <a:solidFill>
              <a:srgbClr val="66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FFAA"/>
                </a:solidFill>
                <a:latin typeface="Calibri"/>
              </a:defRPr>
            </a:pPr>
            <a:r>
              <a:t>Reducir Capacidad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1945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Menos capas y neuronas para que</a:t>
            </a:r>
            <a:br/>
            <a:r>
              <a:t>la red no pueda memorizar todo.</a:t>
            </a:r>
            <a:br/>
            <a:r>
              <a:t>Adecuamos la complejidad al</a:t>
            </a:r>
            <a:br/>
            <a:r>
              <a:t>tamano del dataset.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4114800"/>
            <a:ext cx="2560320" cy="457200"/>
          </a:xfrm>
          <a:prstGeom prst="roundRect">
            <a:avLst/>
          </a:prstGeom>
          <a:solidFill>
            <a:srgbClr val="001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4160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FFAA"/>
                </a:solidFill>
                <a:latin typeface="Consolas"/>
              </a:defRPr>
            </a:pPr>
            <a:r>
              <a:t>64-&gt;16 neuronas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864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6FFAA"/>
                </a:solidFill>
                <a:latin typeface="Calibri"/>
              </a:defRPr>
            </a:pPr>
            <a:r>
              <a:t>ANTES: 5 capas, ~19K params, sin regularizacion    --&gt;    DESPUES: 3 capas, ~300 params, con Dropout + L2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88AAFF"/>
                </a:solidFill>
                <a:latin typeface="Calibri"/>
              </a:defRPr>
            </a:pPr>
            <a:r>
              <a:t>Antes vs Despues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94183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971800"/>
                <a:gridCol w="2971800"/>
              </a:tblGrid>
              <a:tr h="5283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888888"/>
                          </a:solidFill>
                          <a:latin typeface="Calibri"/>
                        </a:defRPr>
                      </a:pPr>
                      <a:r>
                        <a:t>Metrica</a:t>
                      </a:r>
                    </a:p>
                  </a:txBody>
                  <a:tcPr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6666"/>
                          </a:solidFill>
                          <a:latin typeface="Calibri"/>
                        </a:defRPr>
                      </a:pPr>
                      <a:r>
                        <a:t>Saboteado</a:t>
                      </a:r>
                    </a:p>
                  </a:txBody>
                  <a:tcPr>
                    <a:solidFill>
                      <a:srgbClr val="2A0A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66FFAA"/>
                          </a:solidFill>
                          <a:latin typeface="Calibri"/>
                        </a:defRPr>
                      </a:pPr>
                      <a:r>
                        <a:t>Corregido</a:t>
                      </a:r>
                    </a:p>
                  </a:txBody>
                  <a:tcPr>
                    <a:solidFill>
                      <a:srgbClr val="0A2A15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Train Accuracy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F8888"/>
                          </a:solidFill>
                          <a:latin typeface="Calibri"/>
                        </a:defRPr>
                      </a:pPr>
                      <a:r>
                        <a:t>~100%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88FFBB"/>
                          </a:solidFill>
                          <a:latin typeface="Calibri"/>
                        </a:defRPr>
                      </a:pPr>
                      <a:r>
                        <a:t>~90-94%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Test Accuracy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F8888"/>
                          </a:solidFill>
                          <a:latin typeface="Calibri"/>
                        </a:defRPr>
                      </a:pPr>
                      <a:r>
                        <a:t>~65-75%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88FFBB"/>
                          </a:solidFill>
                          <a:latin typeface="Calibri"/>
                        </a:defRPr>
                      </a:pPr>
                      <a:r>
                        <a:t>~87-93%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Gap (Train - Test)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F8888"/>
                          </a:solidFill>
                          <a:latin typeface="Calibri"/>
                        </a:defRPr>
                      </a:pPr>
                      <a:r>
                        <a:t>~25-35%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88FFBB"/>
                          </a:solidFill>
                          <a:latin typeface="Calibri"/>
                        </a:defRPr>
                      </a:pPr>
                      <a:r>
                        <a:t>~3-7%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Perdida de Test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F8888"/>
                          </a:solidFill>
                          <a:latin typeface="Calibri"/>
                        </a:defRPr>
                      </a:pPr>
                      <a:r>
                        <a:t>Diverge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88FFBB"/>
                          </a:solidFill>
                          <a:latin typeface="Calibri"/>
                        </a:defRPr>
                      </a:pPr>
                      <a:r>
                        <a:t>Estable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Pesos (Std)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F8888"/>
                          </a:solidFill>
                          <a:latin typeface="Calibri"/>
                        </a:defRPr>
                      </a:pPr>
                      <a:r>
                        <a:t>Alto (disperso)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88FFBB"/>
                          </a:solidFill>
                          <a:latin typeface="Calibri"/>
                        </a:defRPr>
                      </a:pPr>
                      <a:r>
                        <a:t>Bajo (compacto)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Weight Decay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F8888"/>
                          </a:solidFill>
                          <a:latin typeface="Calibri"/>
                        </a:defRPr>
                      </a:pPr>
                      <a:r>
                        <a:t>0.0 (OFF)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88FFBB"/>
                          </a:solidFill>
                          <a:latin typeface="Calibri"/>
                        </a:defRPr>
                      </a:pPr>
                      <a:r>
                        <a:t>0.01 (ON)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Dropout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F8888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88FFBB"/>
                          </a:solidFill>
                          <a:latin typeface="Calibri"/>
                        </a:defRPr>
                      </a:pPr>
                      <a:r>
                        <a:t>p = 0.3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Parametros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F8888"/>
                          </a:solidFill>
                          <a:latin typeface="Calibri"/>
                        </a:defRPr>
                      </a:pPr>
                      <a:r>
                        <a:t>~19,000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88FFBB"/>
                          </a:solidFill>
                          <a:latin typeface="Calibri"/>
                        </a:defRPr>
                      </a:pPr>
                      <a:r>
                        <a:t>~300</a:t>
                      </a:r>
                    </a:p>
                  </a:txBody>
                  <a:tcPr>
                    <a:solidFill>
                      <a:srgbClr val="1212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C88FF"/>
                </a:solidFill>
                <a:latin typeface="Calibri"/>
              </a:defRPr>
            </a:pPr>
            <a:r>
              <a:t>Anatomia del Exito: Representation Learning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4114800"/>
          </a:xfrm>
          <a:prstGeom prst="roundRect">
            <a:avLst/>
          </a:prstGeom>
          <a:solidFill>
            <a:srgbClr val="200A30"/>
          </a:solidFill>
          <a:ln w="19050">
            <a:solidFill>
              <a:srgbClr val="FF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666"/>
                </a:solidFill>
                <a:latin typeface="Calibri"/>
              </a:defRPr>
            </a:pPr>
            <a:r>
              <a:t>Sin Regularizacion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La red construye representaciones hiper-especificas de cada muestra individual.</a:t>
            </a:r>
            <a:br/>
            <a:br/>
            <a:r>
              <a:t>-&gt; Memoriza el ruido y artefactos de cada dato</a:t>
            </a:r>
            <a:br/>
            <a:r>
              <a:t>-&gt; Las features internas no son transferibles</a:t>
            </a:r>
            <a:br/>
            <a:r>
              <a:t>-&gt; No aprende "conceptos" como bordes o formas</a:t>
            </a:r>
            <a:br/>
            <a:r>
              <a:t>-&gt; Cada neurona se sobreactiva para casos puntuales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114800"/>
          </a:xfrm>
          <a:prstGeom prst="roundRect">
            <a:avLst/>
          </a:prstGeom>
          <a:solidFill>
            <a:srgbClr val="0A2015"/>
          </a:solidFill>
          <a:ln w="19050">
            <a:solidFill>
              <a:srgbClr val="66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66FFAA"/>
                </a:solidFill>
                <a:latin typeface="Calibri"/>
              </a:defRPr>
            </a:pPr>
            <a:r>
              <a:t>Con Regularizacion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La red aprende representaciones generalizables - patrones que aplican a datos nuevos.</a:t>
            </a:r>
            <a:br/>
            <a:br/>
            <a:r>
              <a:t>-&gt; Captura estructura real: distribuciones, correlaciones</a:t>
            </a:r>
            <a:br/>
            <a:r>
              <a:t>-&gt; Features compartidas entre muestras similares</a:t>
            </a:r>
            <a:br/>
            <a:r>
              <a:t>-&gt; Capas intermedias actuan como detectores de patrones</a:t>
            </a:r>
            <a:br/>
            <a:r>
              <a:t>-&gt; Jerarquia: features simples -&gt; features complejas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C88FF"/>
                </a:solidFill>
                <a:latin typeface="Calibri"/>
              </a:defRPr>
            </a:pPr>
            <a:r>
              <a:t>La regularizacion fuerza a la red a buscar patrones compartidos en vez de memorizar caso por caso.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44AAFF"/>
                </a:solidFill>
                <a:latin typeface="Calibri"/>
              </a:defRPr>
            </a:pPr>
            <a:r>
              <a:t>Decision de Negocio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1188720"/>
          </a:xfrm>
          <a:prstGeom prst="roundRect">
            <a:avLst/>
          </a:prstGeom>
          <a:solidFill>
            <a:srgbClr val="0A203A"/>
          </a:solidFill>
          <a:ln w="19050">
            <a:solidFill>
              <a:srgbClr val="44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8AAFF"/>
                </a:solidFill>
                <a:latin typeface="Calibri"/>
              </a:defRPr>
            </a:pPr>
            <a:r>
              <a:t>Si tuvieramos mas presupuesto, donde invertirlo?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8DDFF"/>
                </a:solidFill>
                <a:latin typeface="Calibri"/>
              </a:defRPr>
            </a:pPr>
            <a:r>
              <a:t>Recomendacion: Invertir en DATOS + NAVEGACION (optimizacion), no solo en mejores activaciones.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5212080" cy="2743200"/>
          </a:xfrm>
          <a:prstGeom prst="roundRect">
            <a:avLst/>
          </a:prstGeom>
          <a:solidFill>
            <a:srgbClr val="0A203A"/>
          </a:solidFill>
          <a:ln w="19050">
            <a:solidFill>
              <a:srgbClr val="44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8AAFF"/>
                </a:solidFill>
                <a:latin typeface="Calibri"/>
              </a:defRPr>
            </a:pPr>
            <a:r>
              <a:t>Prioridad 1: Mas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Con un dataset pequeno, ninguna regularizacion es tan buena como tener mas muestras.</a:t>
            </a:r>
            <a:br/>
            <a:br/>
            <a:r>
              <a:t>Data Augmentation, recopilacion de mas imagenes medicas, o tecnicas como Transfer Learning con modelos pre-entrenados.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926080"/>
            <a:ext cx="5212080" cy="2743200"/>
          </a:xfrm>
          <a:prstGeom prst="roundRect">
            <a:avLst/>
          </a:prstGeom>
          <a:solidFill>
            <a:srgbClr val="0A203A"/>
          </a:solidFill>
          <a:ln w="19050">
            <a:solidFill>
              <a:srgbClr val="44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1089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8AAFF"/>
                </a:solidFill>
                <a:latin typeface="Calibri"/>
              </a:defRPr>
            </a:pPr>
            <a:r>
              <a:t>Prioridad 2: Mejor Regularizacion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65760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Combinar multiples tecnicas:</a:t>
            </a:r>
            <a:br/>
            <a:r>
              <a:t>L2 + Dropout + Batch Normalization + Early Stopping.</a:t>
            </a:r>
            <a:br/>
            <a:br/>
            <a:r>
              <a:t>Usar validacion cruzada (k-fold) dado el tamano limitado del dataset para estimar el rendimiento real.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88CCFF"/>
                </a:solidFill>
                <a:latin typeface="Calibri"/>
              </a:defRPr>
            </a:pPr>
            <a:r>
              <a:t>En medicina, un modelo que memoriza es PELIGROSO - puede dar falsos negativos en pacientes nuevos.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DD44"/>
                </a:solidFill>
                <a:latin typeface="Calibri"/>
              </a:defRPr>
            </a:pPr>
            <a:r>
              <a:t>Bonus Matematico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194560"/>
          </a:xfrm>
          <a:prstGeom prst="roundRect">
            <a:avLst/>
          </a:prstGeom>
          <a:solidFill>
            <a:srgbClr val="2A2A05"/>
          </a:solidFill>
          <a:ln w="19050">
            <a:solidFill>
              <a:srgbClr val="FFD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EE88"/>
                </a:solidFill>
                <a:latin typeface="Calibri"/>
              </a:defRPr>
            </a:pPr>
            <a:r>
              <a:t>Sin Weight Decay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1965960"/>
            <a:ext cx="4663440" cy="502920"/>
          </a:xfrm>
          <a:prstGeom prst="roundRect">
            <a:avLst/>
          </a:prstGeom>
          <a:solidFill>
            <a:srgbClr val="101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DD88"/>
                </a:solidFill>
                <a:latin typeface="Consolas"/>
              </a:defRPr>
            </a:pPr>
            <a:r>
              <a:t>theta(t+1) = theta(t) - n * grad(L)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Los pesos se actualizan solo por el gradiente. No hay limite al crecimiento de los pesos.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2194560"/>
          </a:xfrm>
          <a:prstGeom prst="roundRect">
            <a:avLst/>
          </a:prstGeom>
          <a:solidFill>
            <a:srgbClr val="2A2A05"/>
          </a:solidFill>
          <a:ln w="19050">
            <a:solidFill>
              <a:srgbClr val="FFD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EE88"/>
                </a:solidFill>
                <a:latin typeface="Calibri"/>
              </a:defRPr>
            </a:pPr>
            <a:r>
              <a:t>Con Weight Decay (L2)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965960"/>
            <a:ext cx="4663440" cy="502920"/>
          </a:xfrm>
          <a:prstGeom prst="roundRect">
            <a:avLst/>
          </a:prstGeom>
          <a:solidFill>
            <a:srgbClr val="101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0116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DD88"/>
                </a:solidFill>
                <a:latin typeface="Consolas"/>
              </a:defRPr>
            </a:pPr>
            <a:r>
              <a:t>theta(t+1) = (1-n*lambda)*theta(t) - n*grad(L)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0604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El factor (1-n*lambda) encoge los pesos en cada paso. Pesos grandes se penalizan mas.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212080" cy="2194560"/>
          </a:xfrm>
          <a:prstGeom prst="roundRect">
            <a:avLst/>
          </a:prstGeom>
          <a:solidFill>
            <a:srgbClr val="2A2A05"/>
          </a:solidFill>
          <a:ln w="19050">
            <a:solidFill>
              <a:srgbClr val="FFD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77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EE88"/>
                </a:solidFill>
                <a:latin typeface="Calibri"/>
              </a:defRPr>
            </a:pPr>
            <a:r>
              <a:t>Efecto del Dropout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434840"/>
            <a:ext cx="4663440" cy="502920"/>
          </a:xfrm>
          <a:prstGeom prst="roundRect">
            <a:avLst/>
          </a:prstGeom>
          <a:solidFill>
            <a:srgbClr val="101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48056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DD88"/>
                </a:solidFill>
                <a:latin typeface="Consolas"/>
              </a:defRPr>
            </a:pPr>
            <a:r>
              <a:t>h_i = x_i/(1-p) con prob (1-p), o 0 con prob 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749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Equivale a entrenar un ensemble de sub-redes. Cada forward pass usa una red diferente.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840480"/>
            <a:ext cx="5212080" cy="2194560"/>
          </a:xfrm>
          <a:prstGeom prst="roundRect">
            <a:avLst/>
          </a:prstGeom>
          <a:solidFill>
            <a:srgbClr val="2A2A05"/>
          </a:solidFill>
          <a:ln w="19050">
            <a:solidFill>
              <a:srgbClr val="FFD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977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EE88"/>
                </a:solidFill>
                <a:latin typeface="Calibri"/>
              </a:defRPr>
            </a:pPr>
            <a:r>
              <a:t>Grafo de Computacion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434840"/>
            <a:ext cx="4663440" cy="502920"/>
          </a:xfrm>
          <a:prstGeom prst="roundRect">
            <a:avLst/>
          </a:prstGeom>
          <a:solidFill>
            <a:srgbClr val="101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48056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DD88"/>
                </a:solidFill>
                <a:latin typeface="Consolas"/>
              </a:defRPr>
            </a:pPr>
            <a:r>
              <a:t>L_total = L_BCE + lambda * sum(||w_i||^2)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0749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El termino de regularizacion anade gradiente 2*lambda*w_i que controla la magnitud de cada peso.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44FF88"/>
                </a:solidFill>
                <a:latin typeface="Calibri"/>
              </a:defRPr>
            </a:pPr>
            <a:r>
              <a:t>Conclusiones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463040"/>
            <a:ext cx="9418320" cy="777240"/>
          </a:xfrm>
          <a:prstGeom prst="roundRect">
            <a:avLst/>
          </a:prstGeom>
          <a:solidFill>
            <a:srgbClr val="151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463040"/>
            <a:ext cx="73152" cy="777240"/>
          </a:xfrm>
          <a:prstGeom prst="roundRect">
            <a:avLst/>
          </a:prstGeom>
          <a:solidFill>
            <a:srgbClr val="44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37360" y="1554480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rPr b="1" sz="1500">
                <a:solidFill>
                  <a:srgbClr val="66FFAA"/>
                </a:solidFill>
              </a:rPr>
              <a:t>Diagnostico: </a:t>
            </a:r>
            <a:r>
              <a:rPr sz="1400">
                <a:solidFill>
                  <a:srgbClr val="CCCCCC"/>
                </a:solidFill>
              </a:rPr>
              <a:t>El modelo memorizaba el dataset de entrenamiento (Train ~100%, Test ~65-75%). Overfitting violento por falta de regularizacion con dataset pequeno.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377440"/>
            <a:ext cx="9418320" cy="777240"/>
          </a:xfrm>
          <a:prstGeom prst="roundRect">
            <a:avLst/>
          </a:prstGeom>
          <a:solidFill>
            <a:srgbClr val="151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371600" y="2377440"/>
            <a:ext cx="73152" cy="777240"/>
          </a:xfrm>
          <a:prstGeom prst="roundRect">
            <a:avLst/>
          </a:prstGeom>
          <a:solidFill>
            <a:srgbClr val="44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2468880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rPr b="1" sz="1500">
                <a:solidFill>
                  <a:srgbClr val="66FFAA"/>
                </a:solidFill>
              </a:rPr>
              <a:t>El Interruptor: </a:t>
            </a:r>
            <a:r>
              <a:rPr sz="1400">
                <a:solidFill>
                  <a:srgbClr val="CCCCCC"/>
                </a:solidFill>
              </a:rPr>
              <a:t>Activamos Weight Decay (L2 = 0.01), Dropout (p = 0.3) y redujimos la capacidad de la red de ~19K a ~300 parametros.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291840"/>
            <a:ext cx="9418320" cy="777240"/>
          </a:xfrm>
          <a:prstGeom prst="roundRect">
            <a:avLst/>
          </a:prstGeom>
          <a:solidFill>
            <a:srgbClr val="151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371600" y="3291840"/>
            <a:ext cx="73152" cy="777240"/>
          </a:xfrm>
          <a:prstGeom prst="roundRect">
            <a:avLst/>
          </a:prstGeom>
          <a:solidFill>
            <a:srgbClr val="44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3383280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rPr b="1" sz="1500">
                <a:solidFill>
                  <a:srgbClr val="66FFAA"/>
                </a:solidFill>
              </a:rPr>
              <a:t>Anatomia del Exito: </a:t>
            </a:r>
            <a:r>
              <a:rPr sz="1400">
                <a:solidFill>
                  <a:srgbClr val="CCCCCC"/>
                </a:solidFill>
              </a:rPr>
              <a:t>El modelo paso de memorizar ruido a aprender representaciones generalizables. Ahora detecta patrones reales en datos no vistos.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206240"/>
            <a:ext cx="9418320" cy="777240"/>
          </a:xfrm>
          <a:prstGeom prst="roundRect">
            <a:avLst/>
          </a:prstGeom>
          <a:solidFill>
            <a:srgbClr val="151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71600" y="4206240"/>
            <a:ext cx="73152" cy="777240"/>
          </a:xfrm>
          <a:prstGeom prst="roundRect">
            <a:avLst/>
          </a:prstGeom>
          <a:solidFill>
            <a:srgbClr val="44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4297679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rPr b="1" sz="1500">
                <a:solidFill>
                  <a:srgbClr val="66FFAA"/>
                </a:solidFill>
              </a:rPr>
              <a:t>Resultado: </a:t>
            </a:r>
            <a:r>
              <a:rPr sz="1400">
                <a:solidFill>
                  <a:srgbClr val="CCCCCC"/>
                </a:solidFill>
              </a:rPr>
              <a:t>La brecha train-test se redujo de ~30% a menos del 7%. El modelo ahora GENERALIZA en vez de memorizar.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120640"/>
            <a:ext cx="9418320" cy="777240"/>
          </a:xfrm>
          <a:prstGeom prst="roundRect">
            <a:avLst/>
          </a:prstGeom>
          <a:solidFill>
            <a:srgbClr val="151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371600" y="5120640"/>
            <a:ext cx="73152" cy="777240"/>
          </a:xfrm>
          <a:prstGeom prst="roundRect">
            <a:avLst/>
          </a:prstGeom>
          <a:solidFill>
            <a:srgbClr val="44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5212079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rPr b="1" sz="1500">
                <a:solidFill>
                  <a:srgbClr val="66FFAA"/>
                </a:solidFill>
              </a:rPr>
              <a:t>Leccion para HealthTech: </a:t>
            </a:r>
            <a:r>
              <a:rPr sz="1400">
                <a:solidFill>
                  <a:srgbClr val="CCCCCC"/>
                </a:solidFill>
              </a:rPr>
              <a:t>En medicina, un modelo con overfitting puede dar diagnosticos falsos en pacientes nuevos. La regularizacion no es opcional, es esencial.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Calibri"/>
              </a:defRPr>
            </a:pPr>
            <a:r>
              <a:t>Grupo 7 - La Memoria de Pez  |  Bloque 3: Problemas de Estrategia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
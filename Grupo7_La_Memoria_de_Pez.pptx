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64592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999999"/>
                </a:solidFill>
                <a:latin typeface="Calibri"/>
              </a:defRPr>
            </a:pPr>
            <a:r>
              <a:t>GRUPO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19456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1A1A1A"/>
                </a:solidFill>
                <a:latin typeface="Calibri"/>
              </a:defRPr>
            </a:pPr>
            <a:r>
              <a:t>La Memoria de Pez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3200400"/>
            <a:ext cx="2743200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347472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0066CC"/>
                </a:solidFill>
                <a:latin typeface="Calibri"/>
              </a:defRPr>
            </a:pPr>
            <a:r>
              <a:t>Deep Learning Audit: El Rescate de HealthTech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57200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Calibri"/>
              </a:defRPr>
            </a:pPr>
            <a:r>
              <a:t>Universidad Privada del Norte  |  Escuela de Posgrado</a:t>
            </a:r>
            <a:br/>
            <a:r>
              <a:t>Modelos de Deep Learning  |  Sesion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A1A1A"/>
                </a:solidFill>
                <a:latin typeface="Calibri"/>
              </a:defRPr>
            </a:pPr>
            <a:r>
              <a:t>El Problema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88720"/>
            <a:ext cx="1828800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C3333"/>
                </a:solidFill>
                <a:latin typeface="Calibri"/>
              </a:defRPr>
            </a:pPr>
            <a:r>
              <a:t>Sabotaje: dataset pequeno sin regularizacion ni weight decay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103120"/>
            <a:ext cx="9418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El modelo tiene ~19,000 parametros pero solo 60 muestras de entrenamiento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Ratio parametros/muestras: ~300:1  (puede memorizar todo sin esfuerzo)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700">
                <a:solidFill>
                  <a:srgbClr val="333333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spcAft>
                <a:spcPts val="4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Lo que falta: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    -  No hay Weight Decay (penalizacion L2)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    -  No hay Dropout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    -  No hay Early Stopping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    -  Red sobredimensionada para tan pocos datos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700">
                <a:solidFill>
                  <a:srgbClr val="333333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spcAft>
                <a:spcPts val="4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Resultado: el modelo alcanza ~100% en train pero falla en datos nuevos.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Ha memorizado cada muestra en vez de aprender patrones.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A1A1A"/>
                </a:solidFill>
                <a:latin typeface="Calibri"/>
              </a:defRPr>
            </a:pPr>
            <a:r>
              <a:t>Diagnostico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88720"/>
            <a:ext cx="1828800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554480"/>
            <a:ext cx="9418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Sintoma: Train accuracy ~100%, test accuracy ~65-75%.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La perdida de test diverge mientras la de train baja a cero.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700">
                <a:solidFill>
                  <a:srgbClr val="333333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spcAft>
                <a:spcPts val="4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Causa raiz: sin regularizacion, los pesos crecen sin control.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Con muchos parametros y pocos datos, la red memoriza cada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muestra incluyendo el ruido.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700">
                <a:solidFill>
                  <a:srgbClr val="333333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spcAft>
                <a:spcPts val="4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Evidencia: los pesos muestran valores grandes y dispersos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(alta varianza), codificando ruido en vez de patrones.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700">
                <a:solidFill>
                  <a:srgbClr val="333333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spcAft>
                <a:spcPts val="4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Analogia: un estudiante que memoriza las respuestas del examen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de practica en vez de aprender la materia.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A1A1A"/>
                </a:solidFill>
                <a:latin typeface="Calibri"/>
              </a:defRPr>
            </a:pPr>
            <a:r>
              <a:t>La Correccion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88720"/>
            <a:ext cx="1828800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554480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66CC"/>
                </a:solidFill>
                <a:latin typeface="Calibri"/>
              </a:defRPr>
            </a:pPr>
            <a:r>
              <a:t>1. Weight Decay (L2)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2011680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Penaliza pesos grandes sumando lambda*||w||^2 a la perdida.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weight_decay = 0.01 en el optimizador Adam.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926080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66CC"/>
                </a:solidFill>
                <a:latin typeface="Calibri"/>
              </a:defRPr>
            </a:pPr>
            <a:r>
              <a:t>2. Dropout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3383280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Apaga neuronas al azar durante el entrenamiento (p=0.3).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Impide que la red dependa de neuronas individuales.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297680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66CC"/>
                </a:solidFill>
                <a:latin typeface="Calibri"/>
              </a:defRPr>
            </a:pPr>
            <a:r>
              <a:t>3. Reducir capacidad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4754880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De 5 capas (~19K params) a 3 capas (~300 params).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Adecuamos la complejidad al tamano del dataset.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A1A1A"/>
                </a:solidFill>
                <a:latin typeface="Calibri"/>
              </a:defRPr>
            </a:pPr>
            <a:r>
              <a:t>Antes vs Despues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88720"/>
            <a:ext cx="1828800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554480"/>
          <a:ext cx="941832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108960"/>
                <a:gridCol w="3108960"/>
              </a:tblGrid>
              <a:tr h="54864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Metrica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Saboteado</a:t>
                      </a:r>
                    </a:p>
                  </a:txBody>
                  <a:tcPr>
                    <a:solidFill>
                      <a:srgbClr val="CC33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Corregido</a:t>
                      </a:r>
                    </a:p>
                  </a:txBody>
                  <a:tcPr>
                    <a:solidFill>
                      <a:srgbClr val="22884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Train Accuracy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~100%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~90-94%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Test Accuracy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~65-75%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~87-93%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Gap (Train-Test)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~25-35%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~3-7%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Loss de Test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Diverge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Estable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Weight Decay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 (OFF)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0.01 (ON)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Dropout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 = 0.3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Parametros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~19,000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~300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A1A1A"/>
                </a:solidFill>
                <a:latin typeface="Calibri"/>
              </a:defRPr>
            </a:pPr>
            <a:r>
              <a:t>Representation Learning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88720"/>
            <a:ext cx="1828800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5544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CC3333"/>
                </a:solidFill>
                <a:latin typeface="Calibri"/>
              </a:defRPr>
            </a:pPr>
            <a:r>
              <a:t>Sin regularizacion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01168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-  Memoriza ruido y artefactos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-  Features no transferibles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-  No aprende conceptos generales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-  Neuronas sobreactivadas para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   casos puntuales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5544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28844"/>
                </a:solidFill>
                <a:latin typeface="Calibri"/>
              </a:defRPr>
            </a:pPr>
            <a:r>
              <a:t>Con regularizacion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01168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-  Captura patrones reales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-  Features compartidas entre muestras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-  Detectores de patrones en capas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   intermedias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-  Jerarquia: simple a complejo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02920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666666"/>
                </a:solidFill>
                <a:latin typeface="Calibri"/>
              </a:defRPr>
            </a:pPr>
            <a:r>
              <a:t>La regularizacion fuerza a la red a buscar patrones compartidos</a:t>
            </a:r>
            <a:br/>
            <a:r>
              <a:t>en vez de memorizar caso por caso.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A1A1A"/>
                </a:solidFill>
                <a:latin typeface="Calibri"/>
              </a:defRPr>
            </a:pPr>
            <a:r>
              <a:t>Decision de Negocio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88720"/>
            <a:ext cx="1828800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55448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66CC"/>
                </a:solidFill>
                <a:latin typeface="Calibri"/>
              </a:defRPr>
            </a:pPr>
            <a:r>
              <a:t>Con mas presupuesto, invertir en datos + regularizacion.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286000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33333"/>
                </a:solidFill>
                <a:latin typeface="Calibri"/>
              </a:defRPr>
            </a:pPr>
            <a:r>
              <a:t>Prioridad 1: Mas datos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2743200"/>
            <a:ext cx="8686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Con un dataset pequeno, ninguna tecnica supera tener mas muestras.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Data Augmentation, Transfer Learning, recopilacion de imagenes medicas.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840480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33333"/>
                </a:solidFill>
                <a:latin typeface="Calibri"/>
              </a:defRPr>
            </a:pPr>
            <a:r>
              <a:t>Prioridad 2: Mejor regularizacion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4297680"/>
            <a:ext cx="8686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Combinar L2 + Dropout + Batch Normalization + Early Stopping.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Validacion cruzada (k-fold) para estimar rendimiento real.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48640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3333"/>
                </a:solidFill>
                <a:latin typeface="Calibri"/>
              </a:defRPr>
            </a:pPr>
            <a:r>
              <a:t>En medicina, un modelo que memoriza es peligroso:</a:t>
            </a:r>
            <a:br/>
            <a:r>
              <a:t>puede dar falsos negativos en pacientes nuevos.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A1A1A"/>
                </a:solidFill>
                <a:latin typeface="Calibri"/>
              </a:defRPr>
            </a:pPr>
            <a:r>
              <a:t>Bonus Matematico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88720"/>
            <a:ext cx="1828800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554480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Sin Weight Decay: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20116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onsolas"/>
              </a:defRPr>
            </a:pPr>
            <a:r>
              <a:t>theta(t+1)  =  theta(t) - n * grad(L)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651760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Con Weight Decay (L2):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3108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onsolas"/>
              </a:defRPr>
            </a:pPr>
            <a:r>
              <a:t>theta(t+1)  =  (1 - n*lambda) * theta(t) - n * grad(L)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3566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Calibri"/>
              </a:defRPr>
            </a:pPr>
            <a:r>
              <a:t>El factor (1 - n*lambda) encoge los pesos en cada paso.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206240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Dropout: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46634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onsolas"/>
              </a:defRPr>
            </a:pPr>
            <a:r>
              <a:t>h_i = x_i/(1-p) con prob (1-p),  o  0 con prob 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5120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Calibri"/>
              </a:defRPr>
            </a:pPr>
            <a:r>
              <a:t>Equivale a entrenar un ensemble de sub-redes.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5760720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Loss total: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61264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onsolas"/>
              </a:defRPr>
            </a:pPr>
            <a:r>
              <a:t>L_total = L_BCE + lambda * sum(||w_i||^2)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A1A1A"/>
                </a:solidFill>
                <a:latin typeface="Calibri"/>
              </a:defRPr>
            </a:pPr>
            <a:r>
              <a:t>Conclusiones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88720"/>
            <a:ext cx="1828800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554480"/>
            <a:ext cx="9418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1.  Diagnostico: el modelo memorizaba el dataset de entrenamiento.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     Train ~100%, Test ~65-75%. Overfitting violento.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333333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2.  Interruptor: activamos Weight Decay (L2=0.01), Dropout (p=0.3)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     y redujimos la red de ~19K a ~300 parametros.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333333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3.  Resultado: la brecha train-test se redujo de ~30% a &lt;7%.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     El modelo ahora generaliza en vez de memorizar.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333333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4.  Leccion: en medicina, un modelo con overfitting puede dar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     diagnosticos falsos. La regularizacion no es opcional.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5943600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Calibri"/>
              </a:defRPr>
            </a:pPr>
            <a:r>
              <a:t>Grupo 7  |  La Memoria de Pez  |  Bloque 3: Problemas de Estrategia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
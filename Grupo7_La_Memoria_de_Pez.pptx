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371600"/>
            <a:ext cx="63500" cy="3200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6304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09090"/>
                </a:solidFill>
                <a:latin typeface="Calibri"/>
              </a:defRPr>
            </a:pPr>
            <a:r>
              <a:t>GRUPO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9202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Calibri"/>
              </a:defRPr>
            </a:pPr>
            <a:r>
              <a:t>La Memoria de Pez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017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A73E8"/>
                </a:solidFill>
                <a:latin typeface="Calibri"/>
              </a:defRPr>
            </a:pPr>
            <a:r>
              <a:t>Deep Learning Audit: El Rescate de HealthTech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90"/>
                </a:solidFill>
                <a:latin typeface="Calibri"/>
              </a:defRPr>
            </a:pPr>
            <a:r>
              <a:t>Taller  |  Sesion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Universidad Privada del Norte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Calibri"/>
              </a:defRPr>
            </a:pPr>
            <a:r>
              <a:t>Escuela de Posgrado  |  Modelos de Deep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El Problema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D930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93025"/>
                </a:solidFill>
                <a:latin typeface="Calibri"/>
              </a:defRPr>
            </a:pPr>
            <a:r>
              <a:t>Dataset pequeno, sin regularizacion, sin weight decay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920240"/>
            <a:ext cx="4937760" cy="2286000"/>
          </a:xfrm>
          <a:prstGeom prst="roundRect">
            <a:avLst>
              <a:gd name="adj" fmla="val 4000"/>
            </a:avLst>
          </a:prstGeom>
          <a:solidFill>
            <a:srgbClr val="FDF0F0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93025"/>
                </a:solidFill>
                <a:latin typeface="Calibri"/>
              </a:defRPr>
            </a:pPr>
            <a:r>
              <a:t>Sintoma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6888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Train accuracy llega a ~100%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Test accuracy se queda en ~65-75%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La perdida de test diverge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El modelo MEMORIZA en vez de aprender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20240"/>
            <a:ext cx="4937760" cy="2286000"/>
          </a:xfrm>
          <a:prstGeom prst="roundRect">
            <a:avLst>
              <a:gd name="adj" fmla="val 4000"/>
            </a:avLst>
          </a:prstGeom>
          <a:solidFill>
            <a:srgbClr val="FDF0F0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93025"/>
                </a:solidFill>
                <a:latin typeface="Calibri"/>
              </a:defRPr>
            </a:pPr>
            <a:r>
              <a:t>Los numeros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~19,000 parametros  vs  60 muestras</a:t>
            </a:r>
          </a:p>
        </p:txBody>
      </p:sp>
      <p:pic>
        <p:nvPicPr>
          <p:cNvPr id="11" name="Picture 10" descr="f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108960"/>
            <a:ext cx="4114800" cy="52922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97280" y="4434840"/>
            <a:ext cx="4937760" cy="201168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 w="1016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2A2A"/>
                </a:solidFill>
                <a:latin typeface="Calibri"/>
              </a:defRPr>
            </a:pPr>
            <a:r>
              <a:t>Lo que falta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93776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   No hay Weight Decay (L2)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   No hay Dropout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   No hay Early Stopping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   Red sobredimensionada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434840"/>
            <a:ext cx="4937760" cy="201168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 w="1016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2A2A"/>
                </a:solidFill>
                <a:latin typeface="Calibri"/>
              </a:defRPr>
            </a:pPr>
            <a:r>
              <a:t>Impacto clinico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93776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En produccion no detectaria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patologias nuevas correctamente.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Solo "recuerda" los casos vistos.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Paciente nuevo = diagnostico erroneo.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Diagnostico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435608"/>
            <a:ext cx="109728" cy="50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F00"/>
                </a:solidFill>
                <a:latin typeface="Calibri"/>
              </a:defRPr>
            </a:pPr>
            <a:r>
              <a:t>Sintoma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71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Train accuracy converge a ~100% mientras test accuracy se estanca o cae. La brecha (gap) supera el 25%.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578608"/>
            <a:ext cx="109728" cy="50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F00"/>
                </a:solidFill>
                <a:latin typeface="Calibri"/>
              </a:defRPr>
            </a:pPr>
            <a:r>
              <a:t>Causa raiz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14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Sin regularizacion, los pesos crecen sin control. Con 300x mas parametros que muestras, la red memoriza cada dato incluyendo su ruido.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721607"/>
            <a:ext cx="109728" cy="50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3657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F00"/>
                </a:solidFill>
                <a:latin typeface="Calibri"/>
              </a:defRPr>
            </a:pPr>
            <a:r>
              <a:t>Evidencia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657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Los pesos muestran valores grandes y dispersos (alta varianza). Codifican ruido en vez de patrones generalizables.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864607"/>
            <a:ext cx="109728" cy="50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800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F00"/>
                </a:solidFill>
                <a:latin typeface="Calibri"/>
              </a:defRPr>
            </a:pPr>
            <a:r>
              <a:t>Analogia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800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Un estudiante que memoriza las respuestas del examen de practica. Perfecto en lo visto, pesimo en preguntas nuevas.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La Correccion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1E8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8850"/>
                </a:solidFill>
                <a:latin typeface="Calibri"/>
              </a:defRPr>
            </a:pPr>
            <a:r>
              <a:t>Tres interruptores para arreglar el modelo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920240"/>
            <a:ext cx="3200400" cy="4114800"/>
          </a:xfrm>
          <a:prstGeom prst="roundRect">
            <a:avLst>
              <a:gd name="adj" fmla="val 4000"/>
            </a:avLst>
          </a:prstGeom>
          <a:solidFill>
            <a:srgbClr val="EEF7F0"/>
          </a:solidFill>
          <a:ln w="1524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50"/>
                </a:solidFill>
                <a:latin typeface="Calibri"/>
              </a:defRPr>
            </a:pPr>
            <a:r>
              <a:t>Weight Decay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Calibri"/>
              </a:defRPr>
            </a:pPr>
            <a:r>
              <a:t>(L2 Regularization)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Penaliza pesos grandes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sumando un termino de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penalizacion a la perdida.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Encoge los pesos hacia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cero en cada paso.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5120640"/>
            <a:ext cx="2560320" cy="502920"/>
          </a:xfrm>
          <a:prstGeom prst="roundRect">
            <a:avLst>
              <a:gd name="adj" fmla="val 4000"/>
            </a:avLst>
          </a:prstGeom>
          <a:solidFill>
            <a:srgbClr val="D5EEDB"/>
          </a:solidFill>
          <a:ln w="1016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5166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8850"/>
                </a:solidFill>
                <a:latin typeface="Consolas"/>
              </a:defRPr>
            </a:pPr>
            <a:r>
              <a:t>weight_decay=0.01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920240"/>
            <a:ext cx="3200400" cy="4114800"/>
          </a:xfrm>
          <a:prstGeom prst="roundRect">
            <a:avLst>
              <a:gd name="adj" fmla="val 4000"/>
            </a:avLst>
          </a:prstGeom>
          <a:solidFill>
            <a:srgbClr val="EEF7F0"/>
          </a:solidFill>
          <a:ln w="1524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50"/>
                </a:solidFill>
                <a:latin typeface="Calibri"/>
              </a:defRPr>
            </a:pPr>
            <a:r>
              <a:t>Dropout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Calibri"/>
              </a:defRPr>
            </a:pPr>
            <a:r>
              <a:t>(Regularizacion estocastica)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1089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Apaga neuronas al azar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durante el entrenamiento.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Impide que la red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dependa de neuronas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individuales.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5120640"/>
            <a:ext cx="2560320" cy="502920"/>
          </a:xfrm>
          <a:prstGeom prst="roundRect">
            <a:avLst>
              <a:gd name="adj" fmla="val 4000"/>
            </a:avLst>
          </a:prstGeom>
          <a:solidFill>
            <a:srgbClr val="D5EEDB"/>
          </a:solidFill>
          <a:ln w="1016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5166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8850"/>
                </a:solidFill>
                <a:latin typeface="Consolas"/>
              </a:defRPr>
            </a:pPr>
            <a:r>
              <a:t>nn.Dropout(0.3)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920240"/>
            <a:ext cx="3200400" cy="4114800"/>
          </a:xfrm>
          <a:prstGeom prst="roundRect">
            <a:avLst>
              <a:gd name="adj" fmla="val 4000"/>
            </a:avLst>
          </a:prstGeom>
          <a:solidFill>
            <a:srgbClr val="EEF7F0"/>
          </a:solidFill>
          <a:ln w="1524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50"/>
                </a:solidFill>
                <a:latin typeface="Calibri"/>
              </a:defRPr>
            </a:pPr>
            <a:r>
              <a:t>Reducir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Calibri"/>
              </a:defRPr>
            </a:pPr>
            <a:r>
              <a:t>(Menos parametros)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1089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Menos capas y neuronas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para que no pueda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memorizar todo.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Adecuamos complejidad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al tamano del dataset.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5120640"/>
            <a:ext cx="2560320" cy="502920"/>
          </a:xfrm>
          <a:prstGeom prst="roundRect">
            <a:avLst>
              <a:gd name="adj" fmla="val 4000"/>
            </a:avLst>
          </a:prstGeom>
          <a:solidFill>
            <a:srgbClr val="D5EEDB"/>
          </a:solidFill>
          <a:ln w="1016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5166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8850"/>
                </a:solidFill>
                <a:latin typeface="Consolas"/>
              </a:defRPr>
            </a:pPr>
            <a:r>
              <a:t>19K -&gt; 300 params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Antes vs Despues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108960"/>
                <a:gridCol w="310896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Metrica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Saboteado</a:t>
                      </a:r>
                    </a:p>
                  </a:txBody>
                  <a:tcPr anchor="ctr">
                    <a:solidFill>
                      <a:srgbClr val="D930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Corregido</a:t>
                      </a:r>
                    </a:p>
                  </a:txBody>
                  <a:tcPr anchor="ctr">
                    <a:solidFill>
                      <a:srgbClr val="1E885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Train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~100%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~90-94%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Test Accuracy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~65-75%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~87-93%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Gap (Train-Test)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~25-35%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~3-7%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Loss de Test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Diverge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Estable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Weight Decay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0.0 (OFF)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0.01 (ON)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Dropout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p = 0.3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Parametros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~19,000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~300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Representation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97A7"/>
                </a:solidFill>
                <a:latin typeface="Calibri"/>
              </a:defRPr>
            </a:pPr>
            <a:r>
              <a:t>Como cambio la jerarquia de conceptos tras el arreglo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920240"/>
            <a:ext cx="4846320" cy="3840480"/>
          </a:xfrm>
          <a:prstGeom prst="roundRect">
            <a:avLst>
              <a:gd name="adj" fmla="val 4000"/>
            </a:avLst>
          </a:prstGeom>
          <a:solidFill>
            <a:srgbClr val="FDF0F0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93025"/>
                </a:solidFill>
                <a:latin typeface="Calibri"/>
              </a:defRPr>
            </a:pPr>
            <a:r>
              <a:t>Sin Regularizacion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60320"/>
            <a:ext cx="1828800" cy="25400"/>
          </a:xfrm>
          <a:prstGeom prst="rect">
            <a:avLst/>
          </a:prstGeom>
          <a:solidFill>
            <a:srgbClr val="D930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Memoriza el ruido de cada muestra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Las features internas no son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transferibles a datos nuevos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No aprende conceptos generales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(bordes, texturas, formas)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Cada neurona se sobreactiva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para casos puntuales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4846320" cy="3840480"/>
          </a:xfrm>
          <a:prstGeom prst="roundRect">
            <a:avLst>
              <a:gd name="adj" fmla="val 4000"/>
            </a:avLst>
          </a:prstGeom>
          <a:solidFill>
            <a:srgbClr val="EEF7F0"/>
          </a:solidFill>
          <a:ln w="1524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031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50"/>
                </a:solidFill>
                <a:latin typeface="Calibri"/>
              </a:defRPr>
            </a:pPr>
            <a:r>
              <a:t>Con Regularizacion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560320"/>
            <a:ext cx="1828800" cy="25400"/>
          </a:xfrm>
          <a:prstGeom prst="rect">
            <a:avLst/>
          </a:prstGeom>
          <a:solidFill>
            <a:srgbClr val="1E8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Captura patrones reales: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distribuciones y correlaciones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Features compartidas entre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muestras similares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Capas intermedias actuan como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detectores de patrones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Jerarquia: simple -&gt; complejo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06060"/>
                </a:solidFill>
                <a:latin typeface="Calibri"/>
              </a:defRPr>
            </a:pPr>
            <a:r>
              <a:t>La regularizacion fuerza a la red a buscar patrones compartidos en vez de memorizar caso por caso.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Decision de Negocio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10058400" cy="914400"/>
          </a:xfrm>
          <a:prstGeom prst="roundRect">
            <a:avLst>
              <a:gd name="adj" fmla="val 4000"/>
            </a:avLst>
          </a:prstGeom>
          <a:solidFill>
            <a:srgbClr val="EEF3FC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73E8"/>
                </a:solidFill>
                <a:latin typeface="Calibri"/>
              </a:defRPr>
            </a:pPr>
            <a:r>
              <a:t>Si tuvieramos mas presupuesto, donde invertirlo?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A2A2A"/>
                </a:solidFill>
                <a:latin typeface="Calibri"/>
              </a:defRPr>
            </a:pPr>
            <a:r>
              <a:t>Recomendacion: invertir en DATOS + REGULARIZACION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743200"/>
            <a:ext cx="4846320" cy="320040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3E8"/>
                </a:solidFill>
                <a:latin typeface="Calibri"/>
              </a:defRPr>
            </a:pPr>
            <a:r>
              <a:t>Prioridad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00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A2A2A"/>
                </a:solidFill>
                <a:latin typeface="Calibri"/>
              </a:defRPr>
            </a:pPr>
            <a:r>
              <a:t>Mas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657600"/>
            <a:ext cx="1371600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8404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Con dataset pequeno, ninguna tecnica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supera tener mas muestras.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Data Augmentation, Transfer Learning,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recopilacion de imagenes medicas.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743200"/>
            <a:ext cx="4846320" cy="320040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3E8"/>
                </a:solidFill>
                <a:latin typeface="Calibri"/>
              </a:defRPr>
            </a:pPr>
            <a:r>
              <a:t>Prioridad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200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A2A2A"/>
                </a:solidFill>
                <a:latin typeface="Calibri"/>
              </a:defRPr>
            </a:pPr>
            <a:r>
              <a:t>Mejor regularizacion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657600"/>
            <a:ext cx="1371600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404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Combinar L2 + Dropout + BatchNorm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+ Early Stopping.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Validacion cruzada (k-fold) para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estimar rendimiento real.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D93025"/>
                </a:solidFill>
                <a:latin typeface="Calibri"/>
              </a:defRPr>
            </a:pPr>
            <a:r>
              <a:t>En medicina, un modelo que memoriza es peligroso: puede dar falsos negativos en pacientes nuevos.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Bonus Matematico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A2A2A"/>
                </a:solidFill>
                <a:latin typeface="Calibri"/>
              </a:defRPr>
            </a:pPr>
            <a:r>
              <a:t>Sin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Calibri"/>
              </a:defRPr>
            </a:pPr>
            <a:r>
              <a:t>Los pesos se actualizan solo por el gradiente. No hay limite a su crecimiento.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286000"/>
            <a:ext cx="7315200" cy="73152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_sin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31720"/>
            <a:ext cx="5029200" cy="6677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A2A2A"/>
                </a:solidFill>
                <a:latin typeface="Calibri"/>
              </a:defRPr>
            </a:pPr>
            <a:r>
              <a:t>Con Weight Decay (L2)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Calibri"/>
              </a:defRPr>
            </a:pPr>
            <a:r>
              <a:t>El factor (1 - eta*lambda) encoge los pesos en cada paso. Pesos grandes se penalizan mas.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931920"/>
            <a:ext cx="8686800" cy="82296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_con_dec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977639"/>
            <a:ext cx="6858000" cy="7884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A2A2A"/>
                </a:solidFill>
                <a:latin typeface="Calibri"/>
              </a:defRPr>
            </a:pPr>
            <a:r>
              <a:t>Dropout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303520"/>
            <a:ext cx="4572000" cy="118872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_drop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5349240"/>
            <a:ext cx="3657600" cy="47042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A2A2A"/>
                </a:solidFill>
                <a:latin typeface="Calibri"/>
              </a:defRPr>
            </a:pPr>
            <a:r>
              <a:t>Loss total con 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5303520"/>
            <a:ext cx="5029200" cy="91440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_loss_to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94960"/>
            <a:ext cx="4572000" cy="6555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" y="1600200"/>
            <a:ext cx="152400" cy="1524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3E8"/>
                </a:solidFill>
                <a:latin typeface="Calibri"/>
              </a:defRPr>
            </a:pPr>
            <a:r>
              <a:t>Diagnostico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83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El modelo memorizaba el dataset. Train ~100%, Test ~65-75%. Overfitting violento por falta de regularizacion.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651760"/>
            <a:ext cx="152400" cy="1524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3E8"/>
                </a:solidFill>
                <a:latin typeface="Calibri"/>
              </a:defRPr>
            </a:pPr>
            <a:r>
              <a:t>Interruptor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Activamos Weight Decay (L2=0.01), Dropout (p=0.3) y redujimos la red de ~19K a ~300 parametros.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3703320"/>
            <a:ext cx="152400" cy="1524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520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3E8"/>
                </a:solidFill>
                <a:latin typeface="Calibri"/>
              </a:defRPr>
            </a:pPr>
            <a:r>
              <a:t>Resultado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886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La brecha train-test se redujo de ~30% a menos del 7%. El modelo ahora generaliza.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754880"/>
            <a:ext cx="152400" cy="1524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3E8"/>
                </a:solidFill>
                <a:latin typeface="Calibri"/>
              </a:defRPr>
            </a:pPr>
            <a:r>
              <a:t>HealthTech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93775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En medicina, un modelo con overfitting da diagnosticos falsos en pacientes nuevos. La regularizacion es esencial.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436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09090"/>
                </a:solidFill>
                <a:latin typeface="Calibri"/>
              </a:defRPr>
            </a:pPr>
            <a:r>
              <a:t>Grupo 7  |  La Memoria de Pez  |  Bloque 3: Problemas de Estrategia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